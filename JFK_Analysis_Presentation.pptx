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0764E1-AC8D-4054-B89E-4AA13679B6A0}" v="1" dt="2026-04-13T14:18:13.2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1080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Αποστολης Καρυοφυλλης" userId="86dc7bdbe03c3862" providerId="LiveId" clId="{917EE6EB-F861-4896-BF22-92DF2F77AF5C}"/>
    <pc:docChg chg="undo custSel modSld">
      <pc:chgData name="Αποστολης Καρυοφυλλης" userId="86dc7bdbe03c3862" providerId="LiveId" clId="{917EE6EB-F861-4896-BF22-92DF2F77AF5C}" dt="2026-04-13T14:18:53.136" v="282" actId="20577"/>
      <pc:docMkLst>
        <pc:docMk/>
      </pc:docMkLst>
      <pc:sldChg chg="modSp mod">
        <pc:chgData name="Αποστολης Καρυοφυλλης" userId="86dc7bdbe03c3862" providerId="LiveId" clId="{917EE6EB-F861-4896-BF22-92DF2F77AF5C}" dt="2026-04-13T14:17:54.952" v="278" actId="20577"/>
        <pc:sldMkLst>
          <pc:docMk/>
          <pc:sldMk cId="0" sldId="256"/>
        </pc:sldMkLst>
        <pc:spChg chg="mod">
          <ac:chgData name="Αποστολης Καρυοφυλλης" userId="86dc7bdbe03c3862" providerId="LiveId" clId="{917EE6EB-F861-4896-BF22-92DF2F77AF5C}" dt="2026-04-13T14:17:54.952" v="278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Αποστολης Καρυοφυλλης" userId="86dc7bdbe03c3862" providerId="LiveId" clId="{917EE6EB-F861-4896-BF22-92DF2F77AF5C}" dt="2026-04-13T14:09:08.662" v="174" actId="20577"/>
          <ac:spMkLst>
            <pc:docMk/>
            <pc:sldMk cId="0" sldId="256"/>
            <ac:spMk id="9" creationId="{00000000-0000-0000-0000-000000000000}"/>
          </ac:spMkLst>
        </pc:spChg>
      </pc:sldChg>
      <pc:sldChg chg="modSp mod">
        <pc:chgData name="Αποστολης Καρυοφυλλης" userId="86dc7bdbe03c3862" providerId="LiveId" clId="{917EE6EB-F861-4896-BF22-92DF2F77AF5C}" dt="2026-04-13T13:55:58.553" v="7" actId="113"/>
        <pc:sldMkLst>
          <pc:docMk/>
          <pc:sldMk cId="0" sldId="257"/>
        </pc:sldMkLst>
        <pc:spChg chg="mod">
          <ac:chgData name="Αποστολης Καρυοφυλλης" userId="86dc7bdbe03c3862" providerId="LiveId" clId="{917EE6EB-F861-4896-BF22-92DF2F77AF5C}" dt="2026-04-13T13:55:58.553" v="7" actId="113"/>
          <ac:spMkLst>
            <pc:docMk/>
            <pc:sldMk cId="0" sldId="257"/>
            <ac:spMk id="7" creationId="{00000000-0000-0000-0000-000000000000}"/>
          </ac:spMkLst>
        </pc:spChg>
      </pc:sldChg>
      <pc:sldChg chg="modSp mod">
        <pc:chgData name="Αποστολης Καρυοφυλλης" userId="86dc7bdbe03c3862" providerId="LiveId" clId="{917EE6EB-F861-4896-BF22-92DF2F77AF5C}" dt="2026-04-13T14:10:39.656" v="210" actId="20577"/>
        <pc:sldMkLst>
          <pc:docMk/>
          <pc:sldMk cId="0" sldId="258"/>
        </pc:sldMkLst>
        <pc:spChg chg="mod">
          <ac:chgData name="Αποστολης Καρυοφυλλης" userId="86dc7bdbe03c3862" providerId="LiveId" clId="{917EE6EB-F861-4896-BF22-92DF2F77AF5C}" dt="2026-04-13T14:10:39.656" v="210" actId="2057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Αποστολης Καρυοφυλλης" userId="86dc7bdbe03c3862" providerId="LiveId" clId="{917EE6EB-F861-4896-BF22-92DF2F77AF5C}" dt="2026-04-13T14:10:30.654" v="205" actId="20577"/>
          <ac:spMkLst>
            <pc:docMk/>
            <pc:sldMk cId="0" sldId="258"/>
            <ac:spMk id="12" creationId="{00000000-0000-0000-0000-000000000000}"/>
          </ac:spMkLst>
        </pc:spChg>
      </pc:sldChg>
      <pc:sldChg chg="modSp mod">
        <pc:chgData name="Αποστολης Καρυοφυλλης" userId="86dc7bdbe03c3862" providerId="LiveId" clId="{917EE6EB-F861-4896-BF22-92DF2F77AF5C}" dt="2026-04-13T14:18:53.136" v="282" actId="20577"/>
        <pc:sldMkLst>
          <pc:docMk/>
          <pc:sldMk cId="0" sldId="259"/>
        </pc:sldMkLst>
        <pc:spChg chg="mod">
          <ac:chgData name="Αποστολης Καρυοφυλλης" userId="86dc7bdbe03c3862" providerId="LiveId" clId="{917EE6EB-F861-4896-BF22-92DF2F77AF5C}" dt="2026-04-13T14:08:46.633" v="173" actId="313"/>
          <ac:spMkLst>
            <pc:docMk/>
            <pc:sldMk cId="0" sldId="259"/>
            <ac:spMk id="8" creationId="{00000000-0000-0000-0000-000000000000}"/>
          </ac:spMkLst>
        </pc:spChg>
        <pc:spChg chg="mod">
          <ac:chgData name="Αποστολης Καρυοφυλλης" userId="86dc7bdbe03c3862" providerId="LiveId" clId="{917EE6EB-F861-4896-BF22-92DF2F77AF5C}" dt="2026-04-13T14:18:53.136" v="282" actId="20577"/>
          <ac:spMkLst>
            <pc:docMk/>
            <pc:sldMk cId="0" sldId="259"/>
            <ac:spMk id="11" creationId="{00000000-0000-0000-0000-000000000000}"/>
          </ac:spMkLst>
        </pc:spChg>
        <pc:spChg chg="mod">
          <ac:chgData name="Αποστολης Καρυοφυλλης" userId="86dc7bdbe03c3862" providerId="LiveId" clId="{917EE6EB-F861-4896-BF22-92DF2F77AF5C}" dt="2026-04-13T14:07:27.996" v="165" actId="313"/>
          <ac:spMkLst>
            <pc:docMk/>
            <pc:sldMk cId="0" sldId="259"/>
            <ac:spMk id="12" creationId="{00000000-0000-0000-0000-000000000000}"/>
          </ac:spMkLst>
        </pc:spChg>
        <pc:spChg chg="mod">
          <ac:chgData name="Αποστολης Καρυοφυλλης" userId="86dc7bdbe03c3862" providerId="LiveId" clId="{917EE6EB-F861-4896-BF22-92DF2F77AF5C}" dt="2026-04-13T13:57:28.909" v="13" actId="20577"/>
          <ac:spMkLst>
            <pc:docMk/>
            <pc:sldMk cId="0" sldId="259"/>
            <ac:spMk id="16" creationId="{00000000-0000-0000-0000-000000000000}"/>
          </ac:spMkLst>
        </pc:spChg>
      </pc:sldChg>
      <pc:sldChg chg="modSp mod">
        <pc:chgData name="Αποστολης Καρυοφυλλης" userId="86dc7bdbe03c3862" providerId="LiveId" clId="{917EE6EB-F861-4896-BF22-92DF2F77AF5C}" dt="2026-04-13T14:18:35.423" v="279" actId="20577"/>
        <pc:sldMkLst>
          <pc:docMk/>
          <pc:sldMk cId="0" sldId="260"/>
        </pc:sldMkLst>
        <pc:spChg chg="mod">
          <ac:chgData name="Αποστολης Καρυοφυλλης" userId="86dc7bdbe03c3862" providerId="LiveId" clId="{917EE6EB-F861-4896-BF22-92DF2F77AF5C}" dt="2026-04-13T13:58:11.244" v="17" actId="20577"/>
          <ac:spMkLst>
            <pc:docMk/>
            <pc:sldMk cId="0" sldId="260"/>
            <ac:spMk id="16" creationId="{00000000-0000-0000-0000-000000000000}"/>
          </ac:spMkLst>
        </pc:spChg>
        <pc:spChg chg="mod">
          <ac:chgData name="Αποστολης Καρυοφυλλης" userId="86dc7bdbe03c3862" providerId="LiveId" clId="{917EE6EB-F861-4896-BF22-92DF2F77AF5C}" dt="2026-04-13T13:58:27.659" v="20" actId="2057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Αποστολης Καρυοφυλλης" userId="86dc7bdbe03c3862" providerId="LiveId" clId="{917EE6EB-F861-4896-BF22-92DF2F77AF5C}" dt="2026-04-13T13:58:56.095" v="23" actId="20577"/>
          <ac:spMkLst>
            <pc:docMk/>
            <pc:sldMk cId="0" sldId="260"/>
            <ac:spMk id="29" creationId="{00000000-0000-0000-0000-000000000000}"/>
          </ac:spMkLst>
        </pc:spChg>
        <pc:spChg chg="mod">
          <ac:chgData name="Αποστολης Καρυοφυλλης" userId="86dc7bdbe03c3862" providerId="LiveId" clId="{917EE6EB-F861-4896-BF22-92DF2F77AF5C}" dt="2026-04-13T14:18:35.423" v="279" actId="20577"/>
          <ac:spMkLst>
            <pc:docMk/>
            <pc:sldMk cId="0" sldId="260"/>
            <ac:spMk id="36" creationId="{00000000-0000-0000-0000-000000000000}"/>
          </ac:spMkLst>
        </pc:spChg>
      </pc:sldChg>
      <pc:sldChg chg="modSp mod">
        <pc:chgData name="Αποστολης Καρυοφυλλης" userId="86dc7bdbe03c3862" providerId="LiveId" clId="{917EE6EB-F861-4896-BF22-92DF2F77AF5C}" dt="2026-04-13T14:14:26.272" v="225" actId="20577"/>
        <pc:sldMkLst>
          <pc:docMk/>
          <pc:sldMk cId="0" sldId="261"/>
        </pc:sldMkLst>
        <pc:spChg chg="mod">
          <ac:chgData name="Αποστολης Καρυοφυλλης" userId="86dc7bdbe03c3862" providerId="LiveId" clId="{917EE6EB-F861-4896-BF22-92DF2F77AF5C}" dt="2026-04-13T14:14:16.915" v="212" actId="1076"/>
          <ac:spMkLst>
            <pc:docMk/>
            <pc:sldMk cId="0" sldId="261"/>
            <ac:spMk id="3" creationId="{00000000-0000-0000-0000-000000000000}"/>
          </ac:spMkLst>
        </pc:spChg>
        <pc:spChg chg="mod">
          <ac:chgData name="Αποστολης Καρυοφυλλης" userId="86dc7bdbe03c3862" providerId="LiveId" clId="{917EE6EB-F861-4896-BF22-92DF2F77AF5C}" dt="2026-04-13T13:59:55.344" v="30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Αποστολης Καρυοφυλλης" userId="86dc7bdbe03c3862" providerId="LiveId" clId="{917EE6EB-F861-4896-BF22-92DF2F77AF5C}" dt="2026-04-13T14:14:26.272" v="225" actId="20577"/>
          <ac:spMkLst>
            <pc:docMk/>
            <pc:sldMk cId="0" sldId="261"/>
            <ac:spMk id="17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GB" sz="1100" b="0" i="0" u="none" strike="noStrike">
                <a:solidFill>
                  <a:srgbClr val="1E2761"/>
                </a:solidFill>
                <a:latin typeface="Arial"/>
              </a:rPr>
              <a:t>Taxi-Out Time by Departure Traffic Level (min)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Taxi-Out (min)</c:v>
                </c:pt>
              </c:strCache>
            </c:strRef>
          </c:tx>
          <c:spPr>
            <a:solidFill>
              <a:srgbClr val="4A90D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LID4096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Very Low</c:v>
                </c:pt>
                <c:pt idx="1">
                  <c:v>Low</c:v>
                </c:pt>
                <c:pt idx="2">
                  <c:v>Moderate</c:v>
                </c:pt>
                <c:pt idx="3">
                  <c:v>High</c:v>
                </c:pt>
                <c:pt idx="4">
                  <c:v>Very High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17.7</c:v>
                </c:pt>
                <c:pt idx="1">
                  <c:v>19.03</c:v>
                </c:pt>
                <c:pt idx="2">
                  <c:v>20.58</c:v>
                </c:pt>
                <c:pt idx="3">
                  <c:v>22.04</c:v>
                </c:pt>
                <c:pt idx="4">
                  <c:v>22.78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E5C-476E-B391-87754D5ADF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5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813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253480"/>
          </a:solidFill>
          <a:ln w="12700">
            <a:solidFill>
              <a:srgbClr val="253480"/>
            </a:solidFill>
            <a:prstDash val="solid"/>
          </a:ln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2286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05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JFK AIRPORT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457200" y="1874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Taxi-Out Time Analysis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457200" y="2514600"/>
            <a:ext cx="3200400" cy="36576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8" name="Text 5"/>
          <p:cNvSpPr/>
          <p:nvPr/>
        </p:nvSpPr>
        <p:spPr>
          <a:xfrm>
            <a:off x="457200" y="2697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really drives delays between gate and takeoff?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Apostolos Karyofyllis  ·  github.com/Karyapos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73152" cy="329184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taxi-out time?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between a flight pushing back from the gate and wheels-up on the runway.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busy hub like JFK averaging </a:t>
            </a: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flights per day, peaking above </a:t>
            </a:r>
            <a:r>
              <a:rPr lang="en-US" sz="13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</a:t>
            </a: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even a few extra minutes per aircraft compounds into significant costs across a full day of operations.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84048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444752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32120" y="1261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532120" y="1600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idle minute burns jet fuel at the gate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846320" y="2331720"/>
            <a:ext cx="384048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58775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32120" y="2404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Punctuality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532120" y="2743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departures cascade into missed connections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846320" y="3474720"/>
            <a:ext cx="3840480" cy="1005840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730752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32120" y="354787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Emissions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5532120" y="3886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Engines idling longer means more CO₂ per flight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&amp; APPROACH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560320" cy="1188720"/>
          </a:xfrm>
          <a:prstGeom prst="rect">
            <a:avLst/>
          </a:prstGeom>
          <a:solidFill>
            <a:srgbClr val="2534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28,818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 analyzed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560320" cy="1188720"/>
          </a:xfrm>
          <a:prstGeom prst="rect">
            <a:avLst/>
          </a:prstGeom>
          <a:solidFill>
            <a:srgbClr val="2534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8" name="Text 6"/>
          <p:cNvSpPr/>
          <p:nvPr/>
        </p:nvSpPr>
        <p:spPr>
          <a:xfrm>
            <a:off x="3246120" y="1280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24612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data (2019–2020)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560320" cy="1188720"/>
          </a:xfrm>
          <a:prstGeom prst="rect">
            <a:avLst/>
          </a:prstGeom>
          <a:solidFill>
            <a:srgbClr val="2534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1" name="Text 9"/>
          <p:cNvSpPr/>
          <p:nvPr/>
        </p:nvSpPr>
        <p:spPr>
          <a:xfrm>
            <a:off x="6126480" y="1280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20.86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126480" y="18745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taxi-out time (min)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4-Phase Analysis Pipeline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063240"/>
            <a:ext cx="1920240" cy="1554480"/>
          </a:xfrm>
          <a:prstGeom prst="rect">
            <a:avLst/>
          </a:prstGeom>
          <a:solidFill>
            <a:srgbClr val="2534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5" name="Text 13"/>
          <p:cNvSpPr/>
          <p:nvPr/>
        </p:nvSpPr>
        <p:spPr>
          <a:xfrm>
            <a:off x="36576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exploratory analysis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04288" y="3794760"/>
            <a:ext cx="182880" cy="36576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Shape 17"/>
          <p:cNvSpPr/>
          <p:nvPr/>
        </p:nvSpPr>
        <p:spPr>
          <a:xfrm>
            <a:off x="2514600" y="3063240"/>
            <a:ext cx="1920240" cy="1554480"/>
          </a:xfrm>
          <a:prstGeom prst="rect">
            <a:avLst/>
          </a:prstGeom>
          <a:solidFill>
            <a:srgbClr val="2534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0" name="Text 18"/>
          <p:cNvSpPr/>
          <p:nvPr/>
        </p:nvSpPr>
        <p:spPr>
          <a:xfrm>
            <a:off x="251460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514600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51460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&amp; statistical testing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453128" y="3794760"/>
            <a:ext cx="182880" cy="36576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4" name="Shape 22"/>
          <p:cNvSpPr/>
          <p:nvPr/>
        </p:nvSpPr>
        <p:spPr>
          <a:xfrm>
            <a:off x="4663440" y="3063240"/>
            <a:ext cx="1920240" cy="1554480"/>
          </a:xfrm>
          <a:prstGeom prst="rect">
            <a:avLst/>
          </a:prstGeom>
          <a:solidFill>
            <a:srgbClr val="2534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5" name="Text 23"/>
          <p:cNvSpPr/>
          <p:nvPr/>
        </p:nvSpPr>
        <p:spPr>
          <a:xfrm>
            <a:off x="466344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6344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601968" y="3794760"/>
            <a:ext cx="182880" cy="36576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9" name="Shape 27"/>
          <p:cNvSpPr/>
          <p:nvPr/>
        </p:nvSpPr>
        <p:spPr>
          <a:xfrm>
            <a:off x="6812280" y="3063240"/>
            <a:ext cx="1920240" cy="1554480"/>
          </a:xfrm>
          <a:prstGeom prst="rect">
            <a:avLst/>
          </a:prstGeom>
          <a:solidFill>
            <a:srgbClr val="2534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0" name="Text 28"/>
          <p:cNvSpPr/>
          <p:nvPr/>
        </p:nvSpPr>
        <p:spPr>
          <a:xfrm>
            <a:off x="6812280" y="3108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12280" y="342900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812280" y="3840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· GAM · Random Forest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3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FOUND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097280"/>
          <a:ext cx="47548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143000"/>
            <a:ext cx="3474720" cy="1115568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435608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89320" y="123444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is the #1 driver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89320" y="157276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planes queuing = longer waits. “Very High” traffic averages 22.8 min vs 17.7 min at “Very Low” a 5-minute gap that multiplies across hundreds of daily flights.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394960" y="2423160"/>
            <a:ext cx="3474720" cy="1115568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2715768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89320" y="25146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matters, but </a:t>
            </a: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modestly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989320" y="285292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 wind shows a detectable effect, raising taxi-out average by 2.3 minutes. However, it occurs in only 3.9% of flights, making it a high-impact, low-frequency event.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394960" y="3703320"/>
            <a:ext cx="3474720" cy="1115568"/>
          </a:xfrm>
          <a:prstGeom prst="rect">
            <a:avLst/>
          </a:prstGeom>
          <a:solidFill>
            <a:srgbClr val="1E2761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2120" y="3995928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989320" y="379476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(mostly) doesn't explain it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5989320" y="4133088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rain, pressure, humidity, almost no relationship with taxi-out times. The data said no.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4B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GO FROM HERE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Directions worth exploring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920240" cy="960120"/>
          </a:xfrm>
          <a:prstGeom prst="rect">
            <a:avLst/>
          </a:prstGeom>
          <a:solidFill>
            <a:srgbClr val="2534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6" name="Text 4"/>
          <p:cNvSpPr/>
          <p:nvPr/>
        </p:nvSpPr>
        <p:spPr>
          <a:xfrm>
            <a:off x="320040" y="11155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flights depart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7–9 window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68880" y="1078992"/>
            <a:ext cx="1920240" cy="960120"/>
          </a:xfrm>
          <a:prstGeom prst="rect">
            <a:avLst/>
          </a:prstGeom>
          <a:solidFill>
            <a:srgbClr val="2534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9" name="Text 7"/>
          <p:cNvSpPr/>
          <p:nvPr/>
        </p:nvSpPr>
        <p:spPr>
          <a:xfrm>
            <a:off x="2468880" y="11155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46888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 in the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18–19 window alone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078992"/>
            <a:ext cx="1920240" cy="960120"/>
          </a:xfrm>
          <a:prstGeom prst="rect">
            <a:avLst/>
          </a:prstGeom>
          <a:solidFill>
            <a:srgbClr val="2534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2" name="Text 10"/>
          <p:cNvSpPr/>
          <p:nvPr/>
        </p:nvSpPr>
        <p:spPr>
          <a:xfrm>
            <a:off x="4617720" y="11155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61772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difference, Very Low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Very High traffic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66560" y="1078992"/>
            <a:ext cx="1920240" cy="960120"/>
          </a:xfrm>
          <a:prstGeom prst="rect">
            <a:avLst/>
          </a:prstGeom>
          <a:solidFill>
            <a:srgbClr val="2534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 dirty="0"/>
          </a:p>
        </p:txBody>
      </p:sp>
      <p:sp>
        <p:nvSpPr>
          <p:cNvPr id="15" name="Text 13"/>
          <p:cNvSpPr/>
          <p:nvPr/>
        </p:nvSpPr>
        <p:spPr>
          <a:xfrm>
            <a:off x="6766560" y="1115568"/>
            <a:ext cx="1920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766560" y="15544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 wind frequency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predictable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2176272"/>
            <a:ext cx="2651760" cy="2651760"/>
          </a:xfrm>
          <a:prstGeom prst="rect">
            <a:avLst/>
          </a:prstGeom>
          <a:solidFill>
            <a:srgbClr val="2534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18" name="Shape 16"/>
          <p:cNvSpPr/>
          <p:nvPr/>
        </p:nvSpPr>
        <p:spPr>
          <a:xfrm>
            <a:off x="320040" y="2176272"/>
            <a:ext cx="265176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9" name="Text 17"/>
          <p:cNvSpPr/>
          <p:nvPr/>
        </p:nvSpPr>
        <p:spPr>
          <a:xfrm>
            <a:off x="457200" y="2240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2267712"/>
            <a:ext cx="320040" cy="3200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Departure Slots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306324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7–9 and 18–19 windows concentrate too many departures. De-peaking schedules would reduce queue pressure and shorten taxi-out times across the board. The data strongly supports this direction.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4526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 · Structural fix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3200400" y="2176272"/>
            <a:ext cx="2651760" cy="2651760"/>
          </a:xfrm>
          <a:prstGeom prst="rect">
            <a:avLst/>
          </a:prstGeom>
          <a:solidFill>
            <a:srgbClr val="2534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25" name="Shape 22"/>
          <p:cNvSpPr/>
          <p:nvPr/>
        </p:nvSpPr>
        <p:spPr>
          <a:xfrm>
            <a:off x="3200400" y="2176272"/>
            <a:ext cx="265176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26" name="Text 23"/>
          <p:cNvSpPr/>
          <p:nvPr/>
        </p:nvSpPr>
        <p:spPr>
          <a:xfrm>
            <a:off x="3337560" y="2240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2267712"/>
            <a:ext cx="320040" cy="32004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33756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Pre-Position Resources at Peak Times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3337560" y="306324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crew and ATC capacity during the 7–9 and 18–19 windows, and during ENE wind forecasts, could reduce bottlenecks before they form. ENE wind is rare but predictable, an early-warning protocol is feasible.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3337560" y="4526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· Near-term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6080760" y="2176272"/>
            <a:ext cx="2651760" cy="2651760"/>
          </a:xfrm>
          <a:prstGeom prst="rect">
            <a:avLst/>
          </a:prstGeom>
          <a:solidFill>
            <a:srgbClr val="253480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LID4096"/>
          </a:p>
        </p:txBody>
      </p:sp>
      <p:sp>
        <p:nvSpPr>
          <p:cNvPr id="32" name="Shape 28"/>
          <p:cNvSpPr/>
          <p:nvPr/>
        </p:nvSpPr>
        <p:spPr>
          <a:xfrm>
            <a:off x="6080760" y="2176272"/>
            <a:ext cx="2651760" cy="54864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3" name="Text 29"/>
          <p:cNvSpPr/>
          <p:nvPr/>
        </p:nvSpPr>
        <p:spPr>
          <a:xfrm>
            <a:off x="6217920" y="224028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2267712"/>
            <a:ext cx="320040" cy="32004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217920" y="26060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with Airlines on Slot Policy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6217920" y="3063240"/>
            <a:ext cx="2377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scheduling is airline-driven, not airport-driven. The real lever is coordination at the scheduling level. Worth investigating what peer airports have done with slot management.</a:t>
            </a:r>
            <a:endParaRPr lang="en-US" sz="1000" dirty="0"/>
          </a:p>
        </p:txBody>
      </p:sp>
      <p:sp>
        <p:nvSpPr>
          <p:cNvPr id="37" name="Text 32"/>
          <p:cNvSpPr/>
          <p:nvPr/>
        </p:nvSpPr>
        <p:spPr>
          <a:xfrm>
            <a:off x="6217920" y="45262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· Research needed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LID4096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0972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914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for reading.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2743200" cy="36576"/>
          </a:xfrm>
          <a:prstGeom prst="rect">
            <a:avLst/>
          </a:prstGeom>
          <a:solidFill>
            <a:srgbClr val="4A90D9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7" name="Text 4"/>
          <p:cNvSpPr/>
          <p:nvPr/>
        </p:nvSpPr>
        <p:spPr>
          <a:xfrm>
            <a:off x="45720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 end-to-end analysis: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github.com/Karyapos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·  EDA &amp; Cleaning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3090672"/>
            <a:ext cx="1920240" cy="27432"/>
          </a:xfrm>
          <a:prstGeom prst="rect">
            <a:avLst/>
          </a:prstGeom>
          <a:solidFill>
            <a:srgbClr val="25348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1" name="Text 8"/>
          <p:cNvSpPr/>
          <p:nvPr/>
        </p:nvSpPr>
        <p:spPr>
          <a:xfrm>
            <a:off x="256032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 ·  Correlation &amp; Modeling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60320" y="3090672"/>
            <a:ext cx="1920240" cy="27432"/>
          </a:xfrm>
          <a:prstGeom prst="rect">
            <a:avLst/>
          </a:prstGeom>
          <a:solidFill>
            <a:srgbClr val="25348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3" name="Text 10"/>
          <p:cNvSpPr/>
          <p:nvPr/>
        </p:nvSpPr>
        <p:spPr>
          <a:xfrm>
            <a:off x="466344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·  Dashboard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63440" y="3090672"/>
            <a:ext cx="1920240" cy="27432"/>
          </a:xfrm>
          <a:prstGeom prst="rect">
            <a:avLst/>
          </a:prstGeom>
          <a:solidFill>
            <a:srgbClr val="25348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5" name="Text 12"/>
          <p:cNvSpPr/>
          <p:nvPr/>
        </p:nvSpPr>
        <p:spPr>
          <a:xfrm>
            <a:off x="676656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 ·  Random Forest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766560" y="3090672"/>
            <a:ext cx="1920240" cy="27432"/>
          </a:xfrm>
          <a:prstGeom prst="rect">
            <a:avLst/>
          </a:prstGeom>
          <a:solidFill>
            <a:srgbClr val="253480"/>
          </a:solidFill>
          <a:ln/>
        </p:spPr>
        <p:txBody>
          <a:bodyPr/>
          <a:lstStyle/>
          <a:p>
            <a:endParaRPr lang="LID4096"/>
          </a:p>
        </p:txBody>
      </p:sp>
      <p:sp>
        <p:nvSpPr>
          <p:cNvPr id="17" name="Text 14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Apostolos Karyofyllis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482</Words>
  <Application>Microsoft Office PowerPoint</Application>
  <PresentationFormat>On-screen Show (16:9)</PresentationFormat>
  <Paragraphs>83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JFK Taxi-Out Time Analysis</dc:title>
  <dc:subject>PptxGenJS Presentation</dc:subject>
  <dc:creator>Apostolos Karyofyllis</dc:creator>
  <cp:lastModifiedBy>Αποστολης Καρυοφυλλης</cp:lastModifiedBy>
  <cp:revision>1</cp:revision>
  <dcterms:created xsi:type="dcterms:W3CDTF">2026-04-13T13:52:45Z</dcterms:created>
  <dcterms:modified xsi:type="dcterms:W3CDTF">2026-04-13T14:18:53Z</dcterms:modified>
</cp:coreProperties>
</file>